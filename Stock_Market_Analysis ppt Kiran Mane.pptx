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76" r:id="rId6"/>
    <p:sldId id="277" r:id="rId7"/>
    <p:sldId id="292" r:id="rId8"/>
    <p:sldId id="288" r:id="rId9"/>
    <p:sldId id="286" r:id="rId10"/>
    <p:sldId id="287" r:id="rId11"/>
    <p:sldId id="278" r:id="rId12"/>
    <p:sldId id="279" r:id="rId13"/>
    <p:sldId id="289" r:id="rId14"/>
    <p:sldId id="290" r:id="rId15"/>
    <p:sldId id="280" r:id="rId16"/>
    <p:sldId id="303" r:id="rId17"/>
    <p:sldId id="281" r:id="rId18"/>
    <p:sldId id="294" r:id="rId19"/>
    <p:sldId id="283" r:id="rId20"/>
    <p:sldId id="296" r:id="rId21"/>
    <p:sldId id="295" r:id="rId22"/>
    <p:sldId id="297" r:id="rId23"/>
    <p:sldId id="298" r:id="rId24"/>
    <p:sldId id="300" r:id="rId25"/>
    <p:sldId id="301" r:id="rId26"/>
    <p:sldId id="302" r:id="rId27"/>
    <p:sldId id="299" r:id="rId28"/>
    <p:sldId id="282" r:id="rId29"/>
    <p:sldId id="291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52" autoAdjust="0"/>
  </p:normalViewPr>
  <p:slideViewPr>
    <p:cSldViewPr snapToGrid="0" showGuides="1">
      <p:cViewPr varScale="1">
        <p:scale>
          <a:sx n="90" d="100"/>
          <a:sy n="90" d="100"/>
        </p:scale>
        <p:origin x="398" y="53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F8D9-0A98-80F7-62D6-FF010D75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26A46-75B4-9DE5-288C-30D1908AE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070DA-FD0C-8A93-07CE-D592861B4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DEFB3-D904-D2CB-DA1F-10A0CE9DE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06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41A5-82F2-97BA-7774-00C30AED0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8218C-96DE-A5D9-63F0-6AEA87C81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EFC01-A49C-7C3E-4B94-337A84F37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26EC0-949E-24CB-D8C2-86AEA53CC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098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5A67-2A49-6BB9-3896-767E6BE9D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7D6F9-394C-19C6-5670-5A2C49B8A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34177-0F32-ACBF-5889-D0268845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D31D5-4BE9-9710-EB62-DFC382A7C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025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C8D42-7EF0-16A2-B474-ED9F7D52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6CD03-7F7E-D086-CF0D-A98518A03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F563B-BD78-35E3-8CA5-7FE3AC0F8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BA5D6-332F-DED5-CCDF-84F7DBBA0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61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1972-AC7F-2DB5-90D8-F9CFFC9D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8A659-70FC-7B44-D9D1-0BB9F6CB5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4D3F2-5AFF-0A52-CDB7-FD7410D9E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99F7-8393-028B-8C7A-A421008DB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767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AFC4-971F-3B44-CC1A-3EE1FE36C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905F2-9907-9807-65CA-18A455605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A7102-8CC2-FC41-78A6-954F522E9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5DEAD-9B54-260C-298B-2BE179EE7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8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DE78-C3EC-B14B-D234-461C135D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D0627-07CD-93B0-A2FD-07E87C63E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E4DC7-1639-ADA5-CB39-11FD73EC7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216A8-55E5-F399-BC66-DEBFCDE3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144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94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9C31-E435-4539-48EE-E6AC76FD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9D319-90F9-E2E0-537F-A22B49EAE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4F202-1C30-4DC8-C7C7-A470D065C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7CB86-3852-62E4-13C6-AE6F12502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94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EC36-D282-FBB5-BE39-324F6B1D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B46F6-4879-3D69-87FC-B9BD438C6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81B1F-B1B2-3A57-FD8A-B282C174A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2BD10-531F-B332-440C-864DFFFE4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66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3ECAD-3EAF-CEB9-D4CA-39694B3F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9E4FB-9F0D-3F14-912E-F4AC8333F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A7BD1-65BB-2C38-B2C3-A9A0D1D08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70A7B-3617-73AF-9812-6A594EF38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149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2AE4-9088-68DE-FFA7-03EC70F48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E2746-5026-0044-19E4-098F34CE7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2EAB0-EB75-A418-2127-BDDA31A79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C28FB-8F34-2630-BA89-6458A8706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668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45F7-B331-F01D-CE5F-50D838E1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C01F4-5A97-A1A8-CFEF-7E154FF18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F50E2-3FFF-7DC5-43DD-28ECC653B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2B542-7EC2-9FAD-4DBF-49027D3A8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28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E9BC-D0B3-583F-4A0B-C0A6A9EF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67C71-5CB1-EF4E-9A9C-8087165B2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36FBB-EA71-C57D-E94F-D192DAB9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1F74-5F54-58EB-BF95-D4EAA3F83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20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86FF-05F9-4A83-ED51-C3605652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57520-D02C-2C95-ED32-DDD45DAD2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025B3-0059-5497-2FE7-E1E3698CA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83970-C093-8C6F-3FA4-D2F9299FC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697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80451-9811-4BC3-0E9B-1A23CA14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5F41E-5474-6C98-FCFB-CA8FD59A7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EB455-7619-845B-C91C-7ADB540C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C04DB-001F-9D97-AF55-E48B0C3D4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06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DC70-EF9D-C44A-A128-12C6A633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B3FEE-9CC2-BE75-3A4C-C74B0DE8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EEAA2-AA5C-4C4E-D226-CEF93CE1B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73F12-9A9D-2D90-593F-75BF506F8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623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25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B09B9-7679-AA8F-69B7-8D8F05AB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FA837-6C60-864B-4A75-04FFD25CE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71FBB-2CE2-998E-9DDB-7E05E4301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344E8-3928-7830-6306-E6CE5AB6A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192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3/27/2025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13" y="976495"/>
            <a:ext cx="9144000" cy="1052596"/>
          </a:xfrm>
        </p:spPr>
        <p:txBody>
          <a:bodyPr lIns="0" tIns="0" rIns="0" bIns="0" anchor="t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Stock Market Analysis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rgbClr val="92D050"/>
                </a:solidFill>
              </a:rPr>
              <a:t>Group 5 : Presentation</a:t>
            </a:r>
            <a:endParaRPr lang="en-US" sz="2800" dirty="0">
              <a:solidFill>
                <a:srgbClr val="92D050"/>
              </a:solidFill>
            </a:endParaRPr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420383" y="150789"/>
            <a:ext cx="827059" cy="645138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9F4C002-F9A1-A85C-AB4C-644C7E590B7E}"/>
              </a:ext>
            </a:extLst>
          </p:cNvPr>
          <p:cNvSpPr txBox="1">
            <a:spLocks/>
          </p:cNvSpPr>
          <p:nvPr/>
        </p:nvSpPr>
        <p:spPr>
          <a:xfrm>
            <a:off x="5174470" y="2802700"/>
            <a:ext cx="6456947" cy="22713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C000"/>
                </a:solidFill>
              </a:rPr>
              <a:t>Group Members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          </a:t>
            </a:r>
            <a:r>
              <a:rPr lang="en-US" sz="1800" b="1" dirty="0">
                <a:solidFill>
                  <a:schemeClr val="bg1"/>
                </a:solidFill>
              </a:rPr>
              <a:t>Suhel Sayfuddin Khan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                    Harshal Rajendra Pednekar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Darshan Nikam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            Ketan Jalindar Erande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                                Basavaraj Nagappa Humanabad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  Kiran Nitin Mane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         Furqan Wahid Moon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D9246-E345-35DE-ED8D-A433C23C67F7}"/>
              </a:ext>
            </a:extLst>
          </p:cNvPr>
          <p:cNvSpPr txBox="1"/>
          <p:nvPr/>
        </p:nvSpPr>
        <p:spPr>
          <a:xfrm>
            <a:off x="2212975" y="2798058"/>
            <a:ext cx="277395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  <a:latin typeface="+mj-lt"/>
              </a:rPr>
              <a:t>Mentor</a:t>
            </a:r>
          </a:p>
          <a:p>
            <a:endParaRPr lang="en-IN" sz="1600" b="1" dirty="0">
              <a:solidFill>
                <a:schemeClr val="bg1"/>
              </a:solidFill>
              <a:latin typeface="+mj-lt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+mj-lt"/>
              </a:rPr>
              <a:t>Shegjibaigari Ashraf </a:t>
            </a:r>
          </a:p>
          <a:p>
            <a:endParaRPr lang="en-IN" sz="2000" b="1" dirty="0">
              <a:solidFill>
                <a:srgbClr val="FFC000"/>
              </a:solidFill>
              <a:latin typeface="+mj-lt"/>
            </a:endParaRPr>
          </a:p>
          <a:p>
            <a:endParaRPr lang="en-IN" sz="20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4D15D4-37AC-F1E0-E854-2A83B367D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727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7407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Agenda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INTRODUCTION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/>
              <a:t>DATA TRANSFORMATION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KPI’s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CONCLUSION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CHALLENGES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DASHBOARD’s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" name="Group 5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7127700" y="534971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7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6F1F294F-E9AC-D3B2-E5C4-DFD7B5DA3A8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4238" y="3379299"/>
            <a:ext cx="651851" cy="651851"/>
          </a:xfrm>
          <a:prstGeom prst="rect">
            <a:avLst/>
          </a:prstGeom>
        </p:spPr>
      </p:pic>
      <p:pic>
        <p:nvPicPr>
          <p:cNvPr id="18" name="Picture 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16C8E4-B86F-093A-DB17-39A76C6BDE7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232" y="5303615"/>
            <a:ext cx="472535" cy="472535"/>
          </a:xfrm>
          <a:prstGeom prst="rect">
            <a:avLst/>
          </a:prstGeom>
        </p:spPr>
      </p:pic>
      <p:pic>
        <p:nvPicPr>
          <p:cNvPr id="43" name="Graphic 42" descr="Hurdle outline">
            <a:extLst>
              <a:ext uri="{FF2B5EF4-FFF2-40B4-BE49-F238E27FC236}">
                <a16:creationId xmlns:a16="http://schemas.microsoft.com/office/drawing/2014/main" id="{11687990-EDD5-1B88-C019-449261A6CBB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2528" y="3422037"/>
            <a:ext cx="566373" cy="566373"/>
          </a:xfrm>
          <a:prstGeom prst="rect">
            <a:avLst/>
          </a:prstGeom>
        </p:spPr>
      </p:pic>
      <p:pic>
        <p:nvPicPr>
          <p:cNvPr id="45" name="Graphic 44" descr="Scroll outline">
            <a:extLst>
              <a:ext uri="{FF2B5EF4-FFF2-40B4-BE49-F238E27FC236}">
                <a16:creationId xmlns:a16="http://schemas.microsoft.com/office/drawing/2014/main" id="{01D34B6E-34EF-F976-C236-82C3B0B05A4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53232" y="175577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376A35-C6F9-CA2C-266A-1A32F1A02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44" y="913214"/>
            <a:ext cx="11000509" cy="5421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/>
              <a:t>                                </a:t>
            </a:r>
            <a:r>
              <a:rPr lang="en-IN" sz="2400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0" indent="0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This presentation introduces the world of stock market performance, shedding light on its importance and key elements.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It covers metrics like stock indices, market capitalization, and volatility, while explaining the concepts of bull and bear markets.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influence of economic indicators, corporate earnings, and global events on market behavior is explored.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significance of diversified sectors and historical performance analysis is highlighted.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presentation also touches on investor sentiment, acknowledging challenges and risks such as market corrections and behavioral biases.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Lastly, it discusses adapting to emerging trends, strategic investment approaches, and the enduring value of a long-term perspective for investors.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398257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5B65-6356-B709-A679-4BD98DB5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D68729E1-F857-B18E-566D-EC237D57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3</a:t>
            </a:r>
          </a:p>
        </p:txBody>
      </p:sp>
      <p:pic>
        <p:nvPicPr>
          <p:cNvPr id="7" name="Content Placeholder 6" descr="A screen shot of a computer">
            <a:extLst>
              <a:ext uri="{FF2B5EF4-FFF2-40B4-BE49-F238E27FC236}">
                <a16:creationId xmlns:a16="http://schemas.microsoft.com/office/drawing/2014/main" id="{3CE35E0E-64D2-AE8B-4AC6-C44CDFA7F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88" y="1466467"/>
            <a:ext cx="10855412" cy="4993276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FD5585-B048-665D-352A-439434265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A8485AF-2A86-F90D-8AE5-ACEF500E8E74}"/>
              </a:ext>
            </a:extLst>
          </p:cNvPr>
          <p:cNvSpPr txBox="1">
            <a:spLocks/>
          </p:cNvSpPr>
          <p:nvPr/>
        </p:nvSpPr>
        <p:spPr>
          <a:xfrm>
            <a:off x="228599" y="398257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A391EA-AE8E-5CAD-E146-1C5D7D828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C1ADAE-5277-8520-69FB-8ADD31958F15}"/>
              </a:ext>
            </a:extLst>
          </p:cNvPr>
          <p:cNvSpPr txBox="1"/>
          <p:nvPr/>
        </p:nvSpPr>
        <p:spPr>
          <a:xfrm>
            <a:off x="498388" y="765620"/>
            <a:ext cx="417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  <a:latin typeface="+mj-lt"/>
              </a:rPr>
              <a:t>DATA TRANSFORMATION</a:t>
            </a:r>
            <a:endParaRPr lang="en-IN" sz="2400" b="1" dirty="0">
              <a:solidFill>
                <a:schemeClr val="accent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226647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BB5F-4EC9-0D78-EBDB-8D57BD4A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71799C21-2FBA-1965-42E5-DB9771EF2D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54F7C1-5D10-060E-B133-4D4FE3E7B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28F42DD5-1508-DDEE-17F1-A91C40594A19}"/>
              </a:ext>
            </a:extLst>
          </p:cNvPr>
          <p:cNvSpPr txBox="1">
            <a:spLocks/>
          </p:cNvSpPr>
          <p:nvPr/>
        </p:nvSpPr>
        <p:spPr>
          <a:xfrm>
            <a:off x="228599" y="398257"/>
            <a:ext cx="11734800" cy="6370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94F957-E18F-890E-0CBE-C95B0D03C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1F4AA17-C57A-7A6A-69F6-AA9E948BD58B}"/>
              </a:ext>
            </a:extLst>
          </p:cNvPr>
          <p:cNvSpPr txBox="1"/>
          <p:nvPr/>
        </p:nvSpPr>
        <p:spPr>
          <a:xfrm>
            <a:off x="591721" y="1352700"/>
            <a:ext cx="44106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:1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000" b="1" i="0" u="none" strike="noStrike" baseline="0" dirty="0">
                <a:latin typeface="Calibri-Bold"/>
              </a:rPr>
              <a:t>Average Daily Trading Volume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711D2-7EA8-8918-3DC5-13038A38F890}"/>
              </a:ext>
            </a:extLst>
          </p:cNvPr>
          <p:cNvSpPr txBox="1"/>
          <p:nvPr/>
        </p:nvSpPr>
        <p:spPr>
          <a:xfrm>
            <a:off x="582704" y="1810787"/>
            <a:ext cx="1138069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  <a:p>
            <a:endParaRPr lang="en-IN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highest Average Trading Volume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AAPL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lowest Average Trading Volume.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indicates the level of liquidity in the market. In this specific dataset: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1.FB-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indicates that buying and selling shares can be done with ease without significantly affecting the stock's price.</a:t>
            </a:r>
            <a:r>
              <a:rPr lang="en-IN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 is highly liquid.</a:t>
            </a:r>
            <a:endParaRPr lang="en-US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2.AAPL-It 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 that buying or selling shares of AMZN might have a more significant impact on its stock price.</a:t>
            </a:r>
            <a:r>
              <a:rPr lang="en-IN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 </a:t>
            </a:r>
            <a:r>
              <a:rPr lang="en-IN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n-IN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lower liquidity 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075966-7E9C-7D66-5E2A-4F762F4CB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051" y="980985"/>
            <a:ext cx="5327228" cy="316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90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3E21C-F732-E62C-EB7A-66CC6A55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04462027-D421-94D2-40B9-D647BD2B6D8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83EE7D-3E34-C58E-F16A-B89141295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0C2CC2F-E2CF-86C7-1066-0C0D0C2EA675}"/>
              </a:ext>
            </a:extLst>
          </p:cNvPr>
          <p:cNvSpPr txBox="1">
            <a:spLocks/>
          </p:cNvSpPr>
          <p:nvPr/>
        </p:nvSpPr>
        <p:spPr>
          <a:xfrm>
            <a:off x="228599" y="398257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34EDBA-01E8-7341-6912-4BB61ACA9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A35669-327A-FB18-CDDE-CC68D3AC04CE}"/>
              </a:ext>
            </a:extLst>
          </p:cNvPr>
          <p:cNvSpPr txBox="1"/>
          <p:nvPr/>
        </p:nvSpPr>
        <p:spPr>
          <a:xfrm>
            <a:off x="-246659" y="965710"/>
            <a:ext cx="6102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– Most Volatile Stocks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95434-BF03-EF6C-A9EB-6C208DCAC9A0}"/>
              </a:ext>
            </a:extLst>
          </p:cNvPr>
          <p:cNvSpPr txBox="1"/>
          <p:nvPr/>
        </p:nvSpPr>
        <p:spPr>
          <a:xfrm>
            <a:off x="1009184" y="1726449"/>
            <a:ext cx="610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09C10-4EF6-30CE-9C68-183E6401C754}"/>
              </a:ext>
            </a:extLst>
          </p:cNvPr>
          <p:cNvSpPr txBox="1"/>
          <p:nvPr/>
        </p:nvSpPr>
        <p:spPr>
          <a:xfrm>
            <a:off x="1035017" y="2374183"/>
            <a:ext cx="6102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MSFT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has highest beta value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has lowest beta value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145134-BB8E-0D4F-AE01-1FDD838FBC16}"/>
              </a:ext>
            </a:extLst>
          </p:cNvPr>
          <p:cNvSpPr txBox="1"/>
          <p:nvPr/>
        </p:nvSpPr>
        <p:spPr>
          <a:xfrm>
            <a:off x="1035017" y="3441680"/>
            <a:ext cx="1081653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endParaRPr lang="en-IN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Beta is a measure of a stock's price sensitivity to market movements. 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MSFT-</a:t>
            </a:r>
          </a:p>
          <a:p>
            <a:pPr algn="l"/>
            <a:r>
              <a:rPr lang="en-US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-I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 is more volatile and has higher price sensitivity to market movement</a:t>
            </a:r>
            <a:r>
              <a:rPr lang="en-IN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IN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Investors should be aware that higher volatility can lead to larger price fluctuations, both 		upward and downward.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FB</a:t>
            </a:r>
          </a:p>
          <a:p>
            <a:pPr algn="l"/>
            <a:r>
              <a:rPr lang="en-US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 is less volatile and has lower price sensitivity to market movements.</a:t>
            </a:r>
          </a:p>
          <a:p>
            <a:pPr algn="l"/>
            <a:r>
              <a:rPr lang="en-US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stock's price is expected to be less affected by general market fluctuations. While this can 	offer a more stable investment, it may also mean potentially lower returns during strong market 	upswings.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33A85-86C1-573E-7955-BB43C04D754E}"/>
              </a:ext>
            </a:extLst>
          </p:cNvPr>
          <p:cNvSpPr txBox="1"/>
          <p:nvPr/>
        </p:nvSpPr>
        <p:spPr>
          <a:xfrm>
            <a:off x="1155031" y="4483817"/>
            <a:ext cx="107232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br>
              <a:rPr lang="en-US" dirty="0"/>
            </a:br>
            <a:endParaRPr lang="en-US" dirty="0">
              <a:solidFill>
                <a:srgbClr val="374151"/>
              </a:solidFill>
              <a:latin typeface="Söhne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24863-6DB7-F16C-E189-A878D4F91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37" y="882020"/>
            <a:ext cx="5307295" cy="289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500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538E-73D1-269C-31B3-693E1105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5CEF0C8-C96B-DDFE-1A3E-6EAAE6C985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4327F5-3435-F153-BAB4-126F8B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5DAC5BE8-A35D-7808-B640-0D873CC80ECE}"/>
              </a:ext>
            </a:extLst>
          </p:cNvPr>
          <p:cNvSpPr txBox="1">
            <a:spLocks/>
          </p:cNvSpPr>
          <p:nvPr/>
        </p:nvSpPr>
        <p:spPr>
          <a:xfrm>
            <a:off x="228599" y="398257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208B9A-757B-3740-E835-E5CD3A773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13731" y="1378049"/>
            <a:ext cx="43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:3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– Stock-Wise Dividend Amount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731" y="2337998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8225" y="30281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MSFT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given more dividend amount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given least dividend amount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33460" y="5112995"/>
            <a:ext cx="9560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74151"/>
                </a:solidFill>
                <a:latin typeface="Söhne"/>
              </a:rPr>
              <a:t>Microsoft is sharing more of its profits with its investors compared to Apple, Amazon, Facebook, and Google.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913731" y="4515438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73A104-D8B0-2749-38DC-921223BA9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573" y="947687"/>
            <a:ext cx="4425694" cy="336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766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92410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009119" y="1458850"/>
            <a:ext cx="3542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:4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– Stock-Wise P/E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4925" y="285891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highest p/e ratio.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lowest p/e ratio.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5361" y="2489581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4925" y="4297462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4925" y="4843436"/>
            <a:ext cx="10493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companies have relatively high average P/E ratios, indicating that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investors are willing to pay a premium for their stocks and these  companies have a lot of potential for growth and earnings, making them attractive to investors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818C5E-D4D8-517A-7EBC-69680DD33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177" y="976340"/>
            <a:ext cx="4796090" cy="31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95836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81576" y="2705641"/>
            <a:ext cx="53083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Amazon, Facebook, Microsoft, Apple, and Google are all seen as very close in value.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Amazon </a:t>
            </a:r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having the highest 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Google </a:t>
            </a:r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having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the lowest market cap.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28033" y="4621094"/>
            <a:ext cx="105112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Among these companies, Amazon has the highest perceived value at $4.44 billion.</a:t>
            </a:r>
          </a:p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It's currently holding the top spot in terms of market capitalization in this graph.</a:t>
            </a:r>
          </a:p>
          <a:p>
            <a:r>
              <a:rPr lang="en-US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This reflects positive investor confidence in the overall strength of the tech industry amidst favorable market conditions</a:t>
            </a:r>
            <a:r>
              <a:rPr lang="en-US" b="1" dirty="0">
                <a:latin typeface="Söhne"/>
              </a:rPr>
              <a:t>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870739" y="2141566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928033" y="3998940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739" y="1231444"/>
            <a:ext cx="3645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:5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– Stock-Wise Market Cap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D62AD7-EEBF-134D-FEC6-69B265B28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914" y="906522"/>
            <a:ext cx="3604572" cy="30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08EC-690C-FFE6-EA26-6FB3E24C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7AA9BEBA-BF0B-06A4-F560-B73E5F5D3E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4FCA89-E43F-72D8-EA3F-A563F3A09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521D77E9-D8E4-7CC3-CE56-3F6ACDCC5363}"/>
              </a:ext>
            </a:extLst>
          </p:cNvPr>
          <p:cNvSpPr txBox="1">
            <a:spLocks/>
          </p:cNvSpPr>
          <p:nvPr/>
        </p:nvSpPr>
        <p:spPr>
          <a:xfrm>
            <a:off x="228600" y="395836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8AFF02-4FDB-67E2-F6DA-837B66C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013BD4-8A50-0DAB-4256-2C873DBCCAD7}"/>
              </a:ext>
            </a:extLst>
          </p:cNvPr>
          <p:cNvSpPr txBox="1"/>
          <p:nvPr/>
        </p:nvSpPr>
        <p:spPr>
          <a:xfrm>
            <a:off x="498763" y="1159995"/>
            <a:ext cx="637309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KPI 6:- </a:t>
            </a:r>
            <a:r>
              <a:rPr lang="en-US" sz="2000" b="1" dirty="0">
                <a:latin typeface="+mj-lt"/>
              </a:rPr>
              <a:t>Stock-wise 52 week high and 52 week low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Observations:</a:t>
            </a:r>
          </a:p>
          <a:p>
            <a:endParaRPr lang="en-US" sz="2000" b="1" dirty="0">
              <a:latin typeface="+mj-lt"/>
            </a:endParaRPr>
          </a:p>
          <a:p>
            <a:r>
              <a:rPr lang="en-US" sz="2000" dirty="0">
                <a:latin typeface="+mj-lt"/>
              </a:rPr>
              <a:t>All the companies having almost same 52 week high and 52 week low stock prices.</a:t>
            </a: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Conclusion:</a:t>
            </a:r>
          </a:p>
          <a:p>
            <a:endParaRPr lang="en-US" sz="2000" b="1" dirty="0">
              <a:latin typeface="+mj-lt"/>
            </a:endParaRPr>
          </a:p>
          <a:p>
            <a:r>
              <a:rPr lang="en-US" sz="2000" dirty="0">
                <a:latin typeface="+mj-lt"/>
              </a:rPr>
              <a:t>All companies are MNC’s and top performing companies in the world.</a:t>
            </a:r>
          </a:p>
          <a:p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C67862-E167-EFE3-6D86-4C45B7C1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958" y="649962"/>
            <a:ext cx="5050109" cy="2779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0CDB21-6E0C-C39C-4968-0C0F161E6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958" y="3827035"/>
            <a:ext cx="5050109" cy="263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372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BE9D-DBB5-51F2-06DB-7CDDD650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5F08C755-6E3A-4581-9227-FAD6F5F7CC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FED5B0-6CA6-B840-11B8-4B3AD6DAF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7BE33D7A-F898-F1AE-60B7-6C4FE50CDD9F}"/>
              </a:ext>
            </a:extLst>
          </p:cNvPr>
          <p:cNvSpPr txBox="1">
            <a:spLocks/>
          </p:cNvSpPr>
          <p:nvPr/>
        </p:nvSpPr>
        <p:spPr>
          <a:xfrm>
            <a:off x="228600" y="395836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18C487-A1A7-FD34-2167-A64C2992F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7F14B1-E28D-17E6-5280-72C5164B7CDA}"/>
              </a:ext>
            </a:extLst>
          </p:cNvPr>
          <p:cNvSpPr txBox="1"/>
          <p:nvPr/>
        </p:nvSpPr>
        <p:spPr>
          <a:xfrm>
            <a:off x="969818" y="1209964"/>
            <a:ext cx="52647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KPI 7:- </a:t>
            </a:r>
            <a:r>
              <a:rPr lang="en-US" sz="2000" b="1" dirty="0">
                <a:latin typeface="+mj-lt"/>
              </a:rPr>
              <a:t>Buy/Wait/Sell Signal for stocks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Observations:</a:t>
            </a:r>
          </a:p>
          <a:p>
            <a:endParaRPr lang="en-US" sz="2000" b="1" dirty="0">
              <a:solidFill>
                <a:schemeClr val="accent5"/>
              </a:solidFill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614(1.2%) days sell signal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9,400(18.8%) days buy signal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39,986(79.9%) days wait signal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Conclusion:</a:t>
            </a:r>
          </a:p>
          <a:p>
            <a:endParaRPr lang="en-US" sz="2000" b="1" dirty="0">
              <a:solidFill>
                <a:schemeClr val="accent5"/>
              </a:solidFill>
              <a:latin typeface="+mj-lt"/>
            </a:endParaRPr>
          </a:p>
          <a:p>
            <a:r>
              <a:rPr lang="en-US" dirty="0">
                <a:latin typeface="+mj-lt"/>
              </a:rPr>
              <a:t>Hardly no negative performance by any company.</a:t>
            </a:r>
            <a:endParaRPr lang="en-IN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F19EE8-F5FC-9F1D-CB56-F92D06F66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973" y="1659787"/>
            <a:ext cx="7048827" cy="30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67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84559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 Dashboard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112CCA7-B839-E931-3DF9-87D87703AFF0}"/>
              </a:ext>
            </a:extLst>
          </p:cNvPr>
          <p:cNvSpPr txBox="1"/>
          <p:nvPr/>
        </p:nvSpPr>
        <p:spPr>
          <a:xfrm>
            <a:off x="529389" y="1836821"/>
            <a:ext cx="11149264" cy="463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957AEF-DEA5-9740-59A6-6ADE0A349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040336"/>
            <a:ext cx="11346026" cy="556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96AA-1304-74A7-EA0D-0661C204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2815B243-FAB1-D637-D243-933FD62269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3AAE45-57B4-5863-211A-C86DDA783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44E3C5F-6D30-CD76-C7D1-0E62A3F460FD}"/>
              </a:ext>
            </a:extLst>
          </p:cNvPr>
          <p:cNvSpPr txBox="1">
            <a:spLocks/>
          </p:cNvSpPr>
          <p:nvPr/>
        </p:nvSpPr>
        <p:spPr>
          <a:xfrm>
            <a:off x="228600" y="384559"/>
            <a:ext cx="11734800" cy="7201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 Dashboard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88F591-5402-AB04-B401-1201A34E0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FCA37D7-A296-B549-2628-EA2887642800}"/>
              </a:ext>
            </a:extLst>
          </p:cNvPr>
          <p:cNvSpPr txBox="1"/>
          <p:nvPr/>
        </p:nvSpPr>
        <p:spPr>
          <a:xfrm>
            <a:off x="529389" y="1836821"/>
            <a:ext cx="11149264" cy="463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91370-90E1-A742-6CF1-CECB6B81A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7154"/>
            <a:ext cx="11624733" cy="547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8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9265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BI Dashboard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3886" descr="Icon of magnifying glass representing search. ">
            <a:extLst>
              <a:ext uri="{FF2B5EF4-FFF2-40B4-BE49-F238E27FC236}">
                <a16:creationId xmlns:a16="http://schemas.microsoft.com/office/drawing/2014/main" id="{9EE2839B-44FB-42AC-BF2D-037A4BE4BEC7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0" name="Group 49" descr="Icon of paper and pen. ">
            <a:extLst>
              <a:ext uri="{FF2B5EF4-FFF2-40B4-BE49-F238E27FC236}">
                <a16:creationId xmlns:a16="http://schemas.microsoft.com/office/drawing/2014/main" id="{2FA1B3F0-F0C6-4C2E-ABD3-6AE2AAF66A07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reeform 4604">
              <a:extLst>
                <a:ext uri="{FF2B5EF4-FFF2-40B4-BE49-F238E27FC236}">
                  <a16:creationId xmlns:a16="http://schemas.microsoft.com/office/drawing/2014/main" id="{F6337A0B-842D-4F0F-B93C-DA957BFFC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4605">
              <a:extLst>
                <a:ext uri="{FF2B5EF4-FFF2-40B4-BE49-F238E27FC236}">
                  <a16:creationId xmlns:a16="http://schemas.microsoft.com/office/drawing/2014/main" id="{1D074A71-FBEB-4855-BA1E-068499BF4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4606">
              <a:extLst>
                <a:ext uri="{FF2B5EF4-FFF2-40B4-BE49-F238E27FC236}">
                  <a16:creationId xmlns:a16="http://schemas.microsoft.com/office/drawing/2014/main" id="{BD829E04-6F8B-4CD1-B1AB-1428DE5AC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99EDB192-0D59-41C6-AD02-EC166F03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computer monitor. ">
            <a:extLst>
              <a:ext uri="{FF2B5EF4-FFF2-40B4-BE49-F238E27FC236}">
                <a16:creationId xmlns:a16="http://schemas.microsoft.com/office/drawing/2014/main" id="{9418C6B8-1E51-409C-A0E5-16AE173CE45B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671BC17B-6D08-4ADE-B6A7-ECAE4A5E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594">
              <a:extLst>
                <a:ext uri="{FF2B5EF4-FFF2-40B4-BE49-F238E27FC236}">
                  <a16:creationId xmlns:a16="http://schemas.microsoft.com/office/drawing/2014/main" id="{2A229F37-7B67-4EE7-B334-2F3DE95D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5" name="Group 84" descr="Icon of computer monitors.">
            <a:extLst>
              <a:ext uri="{FF2B5EF4-FFF2-40B4-BE49-F238E27FC236}">
                <a16:creationId xmlns:a16="http://schemas.microsoft.com/office/drawing/2014/main" id="{A97EEAA0-CE6D-46A9-9837-67DD5CDA8CE9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reeform 1630">
              <a:extLst>
                <a:ext uri="{FF2B5EF4-FFF2-40B4-BE49-F238E27FC236}">
                  <a16:creationId xmlns:a16="http://schemas.microsoft.com/office/drawing/2014/main" id="{CD9DD3B0-9FD5-473E-A718-FEFF0355F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1631">
              <a:extLst>
                <a:ext uri="{FF2B5EF4-FFF2-40B4-BE49-F238E27FC236}">
                  <a16:creationId xmlns:a16="http://schemas.microsoft.com/office/drawing/2014/main" id="{99F6D614-3AD7-472A-92A9-85406C4F4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1632">
              <a:extLst>
                <a:ext uri="{FF2B5EF4-FFF2-40B4-BE49-F238E27FC236}">
                  <a16:creationId xmlns:a16="http://schemas.microsoft.com/office/drawing/2014/main" id="{32C10E2D-7492-462D-9F53-98946445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1633">
              <a:extLst>
                <a:ext uri="{FF2B5EF4-FFF2-40B4-BE49-F238E27FC236}">
                  <a16:creationId xmlns:a16="http://schemas.microsoft.com/office/drawing/2014/main" id="{4FA8B819-0160-4EA0-86E9-6D9D4C17F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1634">
              <a:extLst>
                <a:ext uri="{FF2B5EF4-FFF2-40B4-BE49-F238E27FC236}">
                  <a16:creationId xmlns:a16="http://schemas.microsoft.com/office/drawing/2014/main" id="{2C93C243-2B14-4681-B84A-CD4AAEC1D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1635">
              <a:extLst>
                <a:ext uri="{FF2B5EF4-FFF2-40B4-BE49-F238E27FC236}">
                  <a16:creationId xmlns:a16="http://schemas.microsoft.com/office/drawing/2014/main" id="{220CF904-6E1F-487B-91DB-61DBBB3E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2" name="Group 91" descr="Icon of four squares.">
            <a:extLst>
              <a:ext uri="{FF2B5EF4-FFF2-40B4-BE49-F238E27FC236}">
                <a16:creationId xmlns:a16="http://schemas.microsoft.com/office/drawing/2014/main" id="{268D639A-62F0-4F2B-B632-5A45CD6DD1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reeform 4743">
              <a:extLst>
                <a:ext uri="{FF2B5EF4-FFF2-40B4-BE49-F238E27FC236}">
                  <a16:creationId xmlns:a16="http://schemas.microsoft.com/office/drawing/2014/main" id="{A654CD2F-871A-4BFA-805D-636E7B505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4744">
              <a:extLst>
                <a:ext uri="{FF2B5EF4-FFF2-40B4-BE49-F238E27FC236}">
                  <a16:creationId xmlns:a16="http://schemas.microsoft.com/office/drawing/2014/main" id="{5A76ECC7-C209-476D-BB16-D2195C8D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4745">
              <a:extLst>
                <a:ext uri="{FF2B5EF4-FFF2-40B4-BE49-F238E27FC236}">
                  <a16:creationId xmlns:a16="http://schemas.microsoft.com/office/drawing/2014/main" id="{842A256B-87AA-4D95-A759-ECE316A1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4746">
              <a:extLst>
                <a:ext uri="{FF2B5EF4-FFF2-40B4-BE49-F238E27FC236}">
                  <a16:creationId xmlns:a16="http://schemas.microsoft.com/office/drawing/2014/main" id="{3D60C298-D43E-4861-BEA9-D00241730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4747">
              <a:extLst>
                <a:ext uri="{FF2B5EF4-FFF2-40B4-BE49-F238E27FC236}">
                  <a16:creationId xmlns:a16="http://schemas.microsoft.com/office/drawing/2014/main" id="{29B54F52-E2CA-455A-9AA3-2B20BE88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4748">
              <a:extLst>
                <a:ext uri="{FF2B5EF4-FFF2-40B4-BE49-F238E27FC236}">
                  <a16:creationId xmlns:a16="http://schemas.microsoft.com/office/drawing/2014/main" id="{46C54F87-D686-45B0-AC4F-BD4AD01BD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Freeform 4749">
              <a:extLst>
                <a:ext uri="{FF2B5EF4-FFF2-40B4-BE49-F238E27FC236}">
                  <a16:creationId xmlns:a16="http://schemas.microsoft.com/office/drawing/2014/main" id="{2AD4B2ED-3FF5-413A-9E75-6FD5885D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4750">
              <a:extLst>
                <a:ext uri="{FF2B5EF4-FFF2-40B4-BE49-F238E27FC236}">
                  <a16:creationId xmlns:a16="http://schemas.microsoft.com/office/drawing/2014/main" id="{C94F299B-31F2-4CA4-A270-5E5DDD6CE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1" name="Group 100" descr="Icon of mobile phone and speech bubble.">
            <a:extLst>
              <a:ext uri="{FF2B5EF4-FFF2-40B4-BE49-F238E27FC236}">
                <a16:creationId xmlns:a16="http://schemas.microsoft.com/office/drawing/2014/main" id="{67EBF40E-2836-4B56-82CA-B0AE5592616F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reeform 2023">
              <a:extLst>
                <a:ext uri="{FF2B5EF4-FFF2-40B4-BE49-F238E27FC236}">
                  <a16:creationId xmlns:a16="http://schemas.microsoft.com/office/drawing/2014/main" id="{8A677BB9-7FF5-46F1-AA35-A8280C80A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024">
              <a:extLst>
                <a:ext uri="{FF2B5EF4-FFF2-40B4-BE49-F238E27FC236}">
                  <a16:creationId xmlns:a16="http://schemas.microsoft.com/office/drawing/2014/main" id="{A089C24C-3669-4556-BCE2-1150BE6C0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025">
              <a:extLst>
                <a:ext uri="{FF2B5EF4-FFF2-40B4-BE49-F238E27FC236}">
                  <a16:creationId xmlns:a16="http://schemas.microsoft.com/office/drawing/2014/main" id="{AD44BCFE-381C-4084-BB3E-AC4E2D2D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026">
              <a:extLst>
                <a:ext uri="{FF2B5EF4-FFF2-40B4-BE49-F238E27FC236}">
                  <a16:creationId xmlns:a16="http://schemas.microsoft.com/office/drawing/2014/main" id="{53FDEEB6-B7E5-4317-BF5C-105279C6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6" name="Group 105" descr="Icon of paper. ">
            <a:extLst>
              <a:ext uri="{FF2B5EF4-FFF2-40B4-BE49-F238E27FC236}">
                <a16:creationId xmlns:a16="http://schemas.microsoft.com/office/drawing/2014/main" id="{5A7B4376-F48C-4D8D-B85C-E30B7B3E6434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ctangle 946">
              <a:extLst>
                <a:ext uri="{FF2B5EF4-FFF2-40B4-BE49-F238E27FC236}">
                  <a16:creationId xmlns:a16="http://schemas.microsoft.com/office/drawing/2014/main" id="{E782BD69-3279-4D29-AD06-A103E212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Rectangle 947">
              <a:extLst>
                <a:ext uri="{FF2B5EF4-FFF2-40B4-BE49-F238E27FC236}">
                  <a16:creationId xmlns:a16="http://schemas.microsoft.com/office/drawing/2014/main" id="{F640AD22-6F68-4745-898A-0D4AADEA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Rectangle 948">
              <a:extLst>
                <a:ext uri="{FF2B5EF4-FFF2-40B4-BE49-F238E27FC236}">
                  <a16:creationId xmlns:a16="http://schemas.microsoft.com/office/drawing/2014/main" id="{78786D45-C595-4A69-9D2B-EB0280EF2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949">
              <a:extLst>
                <a:ext uri="{FF2B5EF4-FFF2-40B4-BE49-F238E27FC236}">
                  <a16:creationId xmlns:a16="http://schemas.microsoft.com/office/drawing/2014/main" id="{CF9052AD-F144-4CD7-B6F9-E2E57C7EB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1" name="Group 110" descr="Icon of symbol representing email.">
            <a:extLst>
              <a:ext uri="{FF2B5EF4-FFF2-40B4-BE49-F238E27FC236}">
                <a16:creationId xmlns:a16="http://schemas.microsoft.com/office/drawing/2014/main" id="{20CE09B7-A9E8-4791-ABE4-6FEC5916661D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reeform 3620">
              <a:extLst>
                <a:ext uri="{FF2B5EF4-FFF2-40B4-BE49-F238E27FC236}">
                  <a16:creationId xmlns:a16="http://schemas.microsoft.com/office/drawing/2014/main" id="{849DA0EF-7528-4EE0-8C56-4F1997586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3621">
              <a:extLst>
                <a:ext uri="{FF2B5EF4-FFF2-40B4-BE49-F238E27FC236}">
                  <a16:creationId xmlns:a16="http://schemas.microsoft.com/office/drawing/2014/main" id="{AD76D8F2-24A8-45C7-93D1-4E507EA2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3622">
              <a:extLst>
                <a:ext uri="{FF2B5EF4-FFF2-40B4-BE49-F238E27FC236}">
                  <a16:creationId xmlns:a16="http://schemas.microsoft.com/office/drawing/2014/main" id="{BFC5AFB5-B934-4878-815B-12196286A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3623">
              <a:extLst>
                <a:ext uri="{FF2B5EF4-FFF2-40B4-BE49-F238E27FC236}">
                  <a16:creationId xmlns:a16="http://schemas.microsoft.com/office/drawing/2014/main" id="{6FEA2310-F55A-42DA-913D-4342D4C4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3624">
              <a:extLst>
                <a:ext uri="{FF2B5EF4-FFF2-40B4-BE49-F238E27FC236}">
                  <a16:creationId xmlns:a16="http://schemas.microsoft.com/office/drawing/2014/main" id="{A80953AC-975D-4E59-BEC4-4B21BEA8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3625">
              <a:extLst>
                <a:ext uri="{FF2B5EF4-FFF2-40B4-BE49-F238E27FC236}">
                  <a16:creationId xmlns:a16="http://schemas.microsoft.com/office/drawing/2014/main" id="{DCEEE9E8-A5B3-4D81-814B-3132C0A5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8" name="Group 117" descr="Icon of boxes. ">
            <a:extLst>
              <a:ext uri="{FF2B5EF4-FFF2-40B4-BE49-F238E27FC236}">
                <a16:creationId xmlns:a16="http://schemas.microsoft.com/office/drawing/2014/main" id="{75BF619E-615D-4C1A-A3A1-04DFC90E2F3F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reeform 617">
              <a:extLst>
                <a:ext uri="{FF2B5EF4-FFF2-40B4-BE49-F238E27FC236}">
                  <a16:creationId xmlns:a16="http://schemas.microsoft.com/office/drawing/2014/main" id="{01C5157B-D811-44C7-8E5F-D3F25F98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618">
              <a:extLst>
                <a:ext uri="{FF2B5EF4-FFF2-40B4-BE49-F238E27FC236}">
                  <a16:creationId xmlns:a16="http://schemas.microsoft.com/office/drawing/2014/main" id="{90385080-F77C-4175-BA14-BE696271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619">
              <a:extLst>
                <a:ext uri="{FF2B5EF4-FFF2-40B4-BE49-F238E27FC236}">
                  <a16:creationId xmlns:a16="http://schemas.microsoft.com/office/drawing/2014/main" id="{B5ABC7AD-DBA6-420E-8EDC-F8D70A034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620">
              <a:extLst>
                <a:ext uri="{FF2B5EF4-FFF2-40B4-BE49-F238E27FC236}">
                  <a16:creationId xmlns:a16="http://schemas.microsoft.com/office/drawing/2014/main" id="{9AF2E18D-3033-4D0D-B36E-B0882096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621">
              <a:extLst>
                <a:ext uri="{FF2B5EF4-FFF2-40B4-BE49-F238E27FC236}">
                  <a16:creationId xmlns:a16="http://schemas.microsoft.com/office/drawing/2014/main" id="{10DED026-CA17-4314-AA7F-A291474A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622">
              <a:extLst>
                <a:ext uri="{FF2B5EF4-FFF2-40B4-BE49-F238E27FC236}">
                  <a16:creationId xmlns:a16="http://schemas.microsoft.com/office/drawing/2014/main" id="{AC238F9B-3904-4E03-9BCD-C8546D34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623">
              <a:extLst>
                <a:ext uri="{FF2B5EF4-FFF2-40B4-BE49-F238E27FC236}">
                  <a16:creationId xmlns:a16="http://schemas.microsoft.com/office/drawing/2014/main" id="{19E2AFFE-6F2F-4A41-BE44-30D95498E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624">
              <a:extLst>
                <a:ext uri="{FF2B5EF4-FFF2-40B4-BE49-F238E27FC236}">
                  <a16:creationId xmlns:a16="http://schemas.microsoft.com/office/drawing/2014/main" id="{5BB7C855-93D5-43D5-9ED8-FD815B08E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625">
              <a:extLst>
                <a:ext uri="{FF2B5EF4-FFF2-40B4-BE49-F238E27FC236}">
                  <a16:creationId xmlns:a16="http://schemas.microsoft.com/office/drawing/2014/main" id="{AE6F08CF-736A-40B8-AEB8-D64B67F37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28" name="Group 127" descr="Icon of human being and speech bubble. ">
            <a:extLst>
              <a:ext uri="{FF2B5EF4-FFF2-40B4-BE49-F238E27FC236}">
                <a16:creationId xmlns:a16="http://schemas.microsoft.com/office/drawing/2014/main" id="{E7EE81F4-E278-4BA7-8923-0D6DD1FEBDFA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reeform 2993">
              <a:extLst>
                <a:ext uri="{FF2B5EF4-FFF2-40B4-BE49-F238E27FC236}">
                  <a16:creationId xmlns:a16="http://schemas.microsoft.com/office/drawing/2014/main" id="{DA50A160-1A41-427D-BA06-CB32B8C49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Freeform 2994">
              <a:extLst>
                <a:ext uri="{FF2B5EF4-FFF2-40B4-BE49-F238E27FC236}">
                  <a16:creationId xmlns:a16="http://schemas.microsoft.com/office/drawing/2014/main" id="{983071EF-DBDF-4331-848B-74957C821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0C545EF-B4D8-37C3-D86D-4BBC81B41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898565"/>
            <a:ext cx="11497647" cy="56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0394D-BF72-D14A-6E39-A822483E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E656CBB4-A25E-86E3-12C3-6F09D463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ED9D1-8578-4DFA-A697-F7A17A35C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C6206C-99DD-2FAB-72EC-883B1BB3B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95DA5394-C914-B15A-B7EE-E1DF18C268CC}"/>
              </a:ext>
            </a:extLst>
          </p:cNvPr>
          <p:cNvSpPr txBox="1">
            <a:spLocks/>
          </p:cNvSpPr>
          <p:nvPr/>
        </p:nvSpPr>
        <p:spPr>
          <a:xfrm>
            <a:off x="228600" y="39265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 BI Dashboard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A9B2D8-4CD8-7CDE-64DE-6415B6C25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 3886" descr="Icon of magnifying glass representing search. ">
            <a:extLst>
              <a:ext uri="{FF2B5EF4-FFF2-40B4-BE49-F238E27FC236}">
                <a16:creationId xmlns:a16="http://schemas.microsoft.com/office/drawing/2014/main" id="{924F276D-2A4B-8432-6E1D-A173E3D15C22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0" name="Group 49" descr="Icon of paper and pen. ">
            <a:extLst>
              <a:ext uri="{FF2B5EF4-FFF2-40B4-BE49-F238E27FC236}">
                <a16:creationId xmlns:a16="http://schemas.microsoft.com/office/drawing/2014/main" id="{30E785B7-7798-EBF6-1D9C-5359B4D824C4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reeform 4604">
              <a:extLst>
                <a:ext uri="{FF2B5EF4-FFF2-40B4-BE49-F238E27FC236}">
                  <a16:creationId xmlns:a16="http://schemas.microsoft.com/office/drawing/2014/main" id="{35B5F469-E014-775B-91FE-AC8B85F49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4605">
              <a:extLst>
                <a:ext uri="{FF2B5EF4-FFF2-40B4-BE49-F238E27FC236}">
                  <a16:creationId xmlns:a16="http://schemas.microsoft.com/office/drawing/2014/main" id="{EAF64CD3-8C5F-85ED-FD18-AB5A3C288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4606">
              <a:extLst>
                <a:ext uri="{FF2B5EF4-FFF2-40B4-BE49-F238E27FC236}">
                  <a16:creationId xmlns:a16="http://schemas.microsoft.com/office/drawing/2014/main" id="{F66AC15B-2530-9D35-A225-0C979C93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42B7B7D2-135D-48C0-2C39-A6FA911F3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computer monitor. ">
            <a:extLst>
              <a:ext uri="{FF2B5EF4-FFF2-40B4-BE49-F238E27FC236}">
                <a16:creationId xmlns:a16="http://schemas.microsoft.com/office/drawing/2014/main" id="{08669927-7D73-EFE0-FB43-CC5A1DFC6072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D41F844F-BBA2-D8FF-0098-F8F3DE75B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594">
              <a:extLst>
                <a:ext uri="{FF2B5EF4-FFF2-40B4-BE49-F238E27FC236}">
                  <a16:creationId xmlns:a16="http://schemas.microsoft.com/office/drawing/2014/main" id="{70E40C8C-C8F6-C3AB-60DC-3024D094A6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5" name="Group 84" descr="Icon of computer monitors.">
            <a:extLst>
              <a:ext uri="{FF2B5EF4-FFF2-40B4-BE49-F238E27FC236}">
                <a16:creationId xmlns:a16="http://schemas.microsoft.com/office/drawing/2014/main" id="{89578BBF-D44A-3E27-E101-39FB688EE37D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reeform 1630">
              <a:extLst>
                <a:ext uri="{FF2B5EF4-FFF2-40B4-BE49-F238E27FC236}">
                  <a16:creationId xmlns:a16="http://schemas.microsoft.com/office/drawing/2014/main" id="{3F4880D1-FC52-6563-F58B-4305CBD87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1631">
              <a:extLst>
                <a:ext uri="{FF2B5EF4-FFF2-40B4-BE49-F238E27FC236}">
                  <a16:creationId xmlns:a16="http://schemas.microsoft.com/office/drawing/2014/main" id="{A64332CA-5CE9-AAAB-6CD2-1CA845F1D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1632">
              <a:extLst>
                <a:ext uri="{FF2B5EF4-FFF2-40B4-BE49-F238E27FC236}">
                  <a16:creationId xmlns:a16="http://schemas.microsoft.com/office/drawing/2014/main" id="{D2FDCC72-B42F-4216-ACC1-9EA0644A3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1633">
              <a:extLst>
                <a:ext uri="{FF2B5EF4-FFF2-40B4-BE49-F238E27FC236}">
                  <a16:creationId xmlns:a16="http://schemas.microsoft.com/office/drawing/2014/main" id="{1EFCBD75-B62F-B565-A1FD-84D35E14BE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1634">
              <a:extLst>
                <a:ext uri="{FF2B5EF4-FFF2-40B4-BE49-F238E27FC236}">
                  <a16:creationId xmlns:a16="http://schemas.microsoft.com/office/drawing/2014/main" id="{CB5EAD14-E2BD-E11B-2F2F-AAB6AE28E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1635">
              <a:extLst>
                <a:ext uri="{FF2B5EF4-FFF2-40B4-BE49-F238E27FC236}">
                  <a16:creationId xmlns:a16="http://schemas.microsoft.com/office/drawing/2014/main" id="{E72E294E-EC44-6890-C518-7DDECDC17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2" name="Group 91" descr="Icon of four squares.">
            <a:extLst>
              <a:ext uri="{FF2B5EF4-FFF2-40B4-BE49-F238E27FC236}">
                <a16:creationId xmlns:a16="http://schemas.microsoft.com/office/drawing/2014/main" id="{92BA4117-024B-D641-14F7-53EE414349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reeform 4743">
              <a:extLst>
                <a:ext uri="{FF2B5EF4-FFF2-40B4-BE49-F238E27FC236}">
                  <a16:creationId xmlns:a16="http://schemas.microsoft.com/office/drawing/2014/main" id="{147FF7D0-A7C1-F9DC-9A3A-4914E50E3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4744">
              <a:extLst>
                <a:ext uri="{FF2B5EF4-FFF2-40B4-BE49-F238E27FC236}">
                  <a16:creationId xmlns:a16="http://schemas.microsoft.com/office/drawing/2014/main" id="{34A4B5ED-07C1-0E22-77C5-50B8F32A1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4745">
              <a:extLst>
                <a:ext uri="{FF2B5EF4-FFF2-40B4-BE49-F238E27FC236}">
                  <a16:creationId xmlns:a16="http://schemas.microsoft.com/office/drawing/2014/main" id="{902CD548-C874-02A9-0B92-9845F14D3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4746">
              <a:extLst>
                <a:ext uri="{FF2B5EF4-FFF2-40B4-BE49-F238E27FC236}">
                  <a16:creationId xmlns:a16="http://schemas.microsoft.com/office/drawing/2014/main" id="{1165AE5F-52E2-6F0E-59E2-80F1EEFBE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4747">
              <a:extLst>
                <a:ext uri="{FF2B5EF4-FFF2-40B4-BE49-F238E27FC236}">
                  <a16:creationId xmlns:a16="http://schemas.microsoft.com/office/drawing/2014/main" id="{F67D98FA-53E5-A870-2510-B5B9711E4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4748">
              <a:extLst>
                <a:ext uri="{FF2B5EF4-FFF2-40B4-BE49-F238E27FC236}">
                  <a16:creationId xmlns:a16="http://schemas.microsoft.com/office/drawing/2014/main" id="{97735839-A3DB-405F-B87E-B024D4CFD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Freeform 4749">
              <a:extLst>
                <a:ext uri="{FF2B5EF4-FFF2-40B4-BE49-F238E27FC236}">
                  <a16:creationId xmlns:a16="http://schemas.microsoft.com/office/drawing/2014/main" id="{288F6562-6029-5E0E-1435-14E59C3CB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4750">
              <a:extLst>
                <a:ext uri="{FF2B5EF4-FFF2-40B4-BE49-F238E27FC236}">
                  <a16:creationId xmlns:a16="http://schemas.microsoft.com/office/drawing/2014/main" id="{1FBD4098-21BD-BCA8-E2B2-4F06F9EB9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1" name="Group 100" descr="Icon of mobile phone and speech bubble.">
            <a:extLst>
              <a:ext uri="{FF2B5EF4-FFF2-40B4-BE49-F238E27FC236}">
                <a16:creationId xmlns:a16="http://schemas.microsoft.com/office/drawing/2014/main" id="{EFF6973D-DDEF-AC0A-7EEC-AE42CDCB28A5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reeform 2023">
              <a:extLst>
                <a:ext uri="{FF2B5EF4-FFF2-40B4-BE49-F238E27FC236}">
                  <a16:creationId xmlns:a16="http://schemas.microsoft.com/office/drawing/2014/main" id="{E12F22B3-AA09-13FD-0295-736AF8095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024">
              <a:extLst>
                <a:ext uri="{FF2B5EF4-FFF2-40B4-BE49-F238E27FC236}">
                  <a16:creationId xmlns:a16="http://schemas.microsoft.com/office/drawing/2014/main" id="{4353DF45-561D-64D1-BF03-FD56299978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025">
              <a:extLst>
                <a:ext uri="{FF2B5EF4-FFF2-40B4-BE49-F238E27FC236}">
                  <a16:creationId xmlns:a16="http://schemas.microsoft.com/office/drawing/2014/main" id="{D733AAFF-ACB7-8D78-182D-FC347F7C6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026">
              <a:extLst>
                <a:ext uri="{FF2B5EF4-FFF2-40B4-BE49-F238E27FC236}">
                  <a16:creationId xmlns:a16="http://schemas.microsoft.com/office/drawing/2014/main" id="{8952BD31-FA90-9C88-4C23-E08518A7A4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6" name="Group 105" descr="Icon of paper. ">
            <a:extLst>
              <a:ext uri="{FF2B5EF4-FFF2-40B4-BE49-F238E27FC236}">
                <a16:creationId xmlns:a16="http://schemas.microsoft.com/office/drawing/2014/main" id="{E02E1F2A-A874-E432-5CA4-1353E70C94C2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ctangle 946">
              <a:extLst>
                <a:ext uri="{FF2B5EF4-FFF2-40B4-BE49-F238E27FC236}">
                  <a16:creationId xmlns:a16="http://schemas.microsoft.com/office/drawing/2014/main" id="{11291F9B-3109-D449-D8B1-5C5654102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Rectangle 947">
              <a:extLst>
                <a:ext uri="{FF2B5EF4-FFF2-40B4-BE49-F238E27FC236}">
                  <a16:creationId xmlns:a16="http://schemas.microsoft.com/office/drawing/2014/main" id="{DEAFC6A5-EA8E-E92F-09FA-F1C851A8B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Rectangle 948">
              <a:extLst>
                <a:ext uri="{FF2B5EF4-FFF2-40B4-BE49-F238E27FC236}">
                  <a16:creationId xmlns:a16="http://schemas.microsoft.com/office/drawing/2014/main" id="{DCD2C553-D8B1-1E86-280F-C49E4631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949">
              <a:extLst>
                <a:ext uri="{FF2B5EF4-FFF2-40B4-BE49-F238E27FC236}">
                  <a16:creationId xmlns:a16="http://schemas.microsoft.com/office/drawing/2014/main" id="{8179C359-E60F-4CFF-3075-7E7FB11A88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1" name="Group 110" descr="Icon of symbol representing email.">
            <a:extLst>
              <a:ext uri="{FF2B5EF4-FFF2-40B4-BE49-F238E27FC236}">
                <a16:creationId xmlns:a16="http://schemas.microsoft.com/office/drawing/2014/main" id="{B432ACA3-2361-CA97-874D-37F236720576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reeform 3620">
              <a:extLst>
                <a:ext uri="{FF2B5EF4-FFF2-40B4-BE49-F238E27FC236}">
                  <a16:creationId xmlns:a16="http://schemas.microsoft.com/office/drawing/2014/main" id="{B259E4F9-A37B-8E4F-EC58-18C5BDE6E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3621">
              <a:extLst>
                <a:ext uri="{FF2B5EF4-FFF2-40B4-BE49-F238E27FC236}">
                  <a16:creationId xmlns:a16="http://schemas.microsoft.com/office/drawing/2014/main" id="{F365726A-0D37-54A7-69FE-10C32E5A5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3622">
              <a:extLst>
                <a:ext uri="{FF2B5EF4-FFF2-40B4-BE49-F238E27FC236}">
                  <a16:creationId xmlns:a16="http://schemas.microsoft.com/office/drawing/2014/main" id="{F1C960F0-C50C-20D9-C2D6-7F19BB064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3623">
              <a:extLst>
                <a:ext uri="{FF2B5EF4-FFF2-40B4-BE49-F238E27FC236}">
                  <a16:creationId xmlns:a16="http://schemas.microsoft.com/office/drawing/2014/main" id="{A11CDA12-E899-A53D-54CB-B6D23FFF6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3624">
              <a:extLst>
                <a:ext uri="{FF2B5EF4-FFF2-40B4-BE49-F238E27FC236}">
                  <a16:creationId xmlns:a16="http://schemas.microsoft.com/office/drawing/2014/main" id="{FE07B277-7E63-2932-D9D2-AB74B2DB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3625">
              <a:extLst>
                <a:ext uri="{FF2B5EF4-FFF2-40B4-BE49-F238E27FC236}">
                  <a16:creationId xmlns:a16="http://schemas.microsoft.com/office/drawing/2014/main" id="{F9C10E6F-2FB0-AEDD-DD3E-3DA36D36C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8" name="Group 117" descr="Icon of boxes. ">
            <a:extLst>
              <a:ext uri="{FF2B5EF4-FFF2-40B4-BE49-F238E27FC236}">
                <a16:creationId xmlns:a16="http://schemas.microsoft.com/office/drawing/2014/main" id="{160556B7-73AD-0EB2-7F0A-FB0CB93E72BE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reeform 617">
              <a:extLst>
                <a:ext uri="{FF2B5EF4-FFF2-40B4-BE49-F238E27FC236}">
                  <a16:creationId xmlns:a16="http://schemas.microsoft.com/office/drawing/2014/main" id="{35987FC1-C2BE-3B6A-E508-2DEC0CD47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618">
              <a:extLst>
                <a:ext uri="{FF2B5EF4-FFF2-40B4-BE49-F238E27FC236}">
                  <a16:creationId xmlns:a16="http://schemas.microsoft.com/office/drawing/2014/main" id="{7A7F7C12-0816-849D-26A9-EE500669C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619">
              <a:extLst>
                <a:ext uri="{FF2B5EF4-FFF2-40B4-BE49-F238E27FC236}">
                  <a16:creationId xmlns:a16="http://schemas.microsoft.com/office/drawing/2014/main" id="{1332B410-802A-8266-1102-4DC02E4A4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620">
              <a:extLst>
                <a:ext uri="{FF2B5EF4-FFF2-40B4-BE49-F238E27FC236}">
                  <a16:creationId xmlns:a16="http://schemas.microsoft.com/office/drawing/2014/main" id="{9B91083C-449A-7CB5-F257-91058C234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621">
              <a:extLst>
                <a:ext uri="{FF2B5EF4-FFF2-40B4-BE49-F238E27FC236}">
                  <a16:creationId xmlns:a16="http://schemas.microsoft.com/office/drawing/2014/main" id="{B22EEB2E-D3B0-0988-FFF4-E9CB56CA2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622">
              <a:extLst>
                <a:ext uri="{FF2B5EF4-FFF2-40B4-BE49-F238E27FC236}">
                  <a16:creationId xmlns:a16="http://schemas.microsoft.com/office/drawing/2014/main" id="{D1E47606-B9CC-C146-1D4F-80858F2DF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623">
              <a:extLst>
                <a:ext uri="{FF2B5EF4-FFF2-40B4-BE49-F238E27FC236}">
                  <a16:creationId xmlns:a16="http://schemas.microsoft.com/office/drawing/2014/main" id="{844697C5-B8F8-157E-46BD-01C28E474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624">
              <a:extLst>
                <a:ext uri="{FF2B5EF4-FFF2-40B4-BE49-F238E27FC236}">
                  <a16:creationId xmlns:a16="http://schemas.microsoft.com/office/drawing/2014/main" id="{70A267B9-3B62-911B-A7B3-49DC2F244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625">
              <a:extLst>
                <a:ext uri="{FF2B5EF4-FFF2-40B4-BE49-F238E27FC236}">
                  <a16:creationId xmlns:a16="http://schemas.microsoft.com/office/drawing/2014/main" id="{D68A307F-96ED-932C-B78A-3F7143023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28" name="Group 127" descr="Icon of human being and speech bubble. ">
            <a:extLst>
              <a:ext uri="{FF2B5EF4-FFF2-40B4-BE49-F238E27FC236}">
                <a16:creationId xmlns:a16="http://schemas.microsoft.com/office/drawing/2014/main" id="{CCBADF0C-17FB-4C64-2B9B-C96745DE1093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reeform 2993">
              <a:extLst>
                <a:ext uri="{FF2B5EF4-FFF2-40B4-BE49-F238E27FC236}">
                  <a16:creationId xmlns:a16="http://schemas.microsoft.com/office/drawing/2014/main" id="{75D2352F-8BD5-29F6-8CFB-FB2F0A8B75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Freeform 2994">
              <a:extLst>
                <a:ext uri="{FF2B5EF4-FFF2-40B4-BE49-F238E27FC236}">
                  <a16:creationId xmlns:a16="http://schemas.microsoft.com/office/drawing/2014/main" id="{732D702B-21F2-7D41-B27A-7B473A7AF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94622C3-C5DB-5708-D8FF-88E34AFA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84" y="857432"/>
            <a:ext cx="11290040" cy="560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6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Tableau dashboard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51CFC2A-291D-DC13-7028-6F131D03F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8" y="812800"/>
            <a:ext cx="11319935" cy="595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B058-B490-D2FF-3AAA-80B25737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20B04D3F-C5AB-DD13-242B-73A82F3D15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BF9C7F-2756-8E38-9605-EB3D81776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8D3C753-E3FC-5A73-884A-4ABAF3AE65C1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3051FF-8D85-398C-2FDC-F2FC16319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25A658-CA94-62C4-899F-60361AED21F0}"/>
              </a:ext>
            </a:extLst>
          </p:cNvPr>
          <p:cNvSpPr txBox="1"/>
          <p:nvPr/>
        </p:nvSpPr>
        <p:spPr>
          <a:xfrm>
            <a:off x="685801" y="728133"/>
            <a:ext cx="46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1 </a:t>
            </a:r>
            <a:r>
              <a:rPr lang="en-IN" dirty="0">
                <a:highlight>
                  <a:srgbClr val="FFFF00"/>
                </a:highlight>
              </a:rPr>
              <a:t>:  </a:t>
            </a: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Average Daily Trading Volume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382D3C-1D5E-2BD7-7BC9-C4375323B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71" y="1282131"/>
            <a:ext cx="9677762" cy="51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03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4564-2F55-700B-E9E7-B5C10853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B0A30CB-B7D3-3496-07F0-E1D9D99AD2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A7A652-F524-2AB1-B5ED-A99FEBEC3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FB8CDC7B-F27F-751A-7124-A2620D410598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390165-4323-196C-9813-CBDA78160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1E33CDB-5500-2699-A32E-084E141452F3}"/>
              </a:ext>
            </a:extLst>
          </p:cNvPr>
          <p:cNvSpPr txBox="1"/>
          <p:nvPr/>
        </p:nvSpPr>
        <p:spPr>
          <a:xfrm>
            <a:off x="584200" y="804333"/>
            <a:ext cx="6570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2 </a:t>
            </a:r>
            <a:r>
              <a:rPr lang="en-IN" b="1" dirty="0">
                <a:highlight>
                  <a:srgbClr val="FFFF00"/>
                </a:highlight>
              </a:rPr>
              <a:t>:  Most Volatile Stocks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D1FF2-004C-F4A9-44BF-B020470C6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1" y="1398093"/>
            <a:ext cx="10024532" cy="479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09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491F-072E-88E1-D65A-FBCBB8BB5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DA72E7D-034D-980D-6A9F-91F68DA069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0A97DB-B28E-6FB0-1D2E-A6C3650F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2782B954-45D2-6D5C-CE76-3B15119F7EFF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B153A0-D619-7EE3-1CAB-92CB56443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7D01B6-11F8-B7FF-8B82-25A134E00A17}"/>
              </a:ext>
            </a:extLst>
          </p:cNvPr>
          <p:cNvSpPr txBox="1"/>
          <p:nvPr/>
        </p:nvSpPr>
        <p:spPr>
          <a:xfrm>
            <a:off x="321733" y="804333"/>
            <a:ext cx="646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3 </a:t>
            </a:r>
            <a:r>
              <a:rPr lang="en-IN" b="1" dirty="0">
                <a:highlight>
                  <a:srgbClr val="FFFF00"/>
                </a:highlight>
              </a:rPr>
              <a:t>: Stocks with Highest Dividend and Lowest Dividend  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8565F-A33D-7A91-FF8F-21E60C926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3" y="1306645"/>
            <a:ext cx="10583334" cy="474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1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F375-0DDC-66A4-2363-094AC95C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C9915C78-7464-18DC-AE0B-250EACF7D1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288CF9-CA32-874B-D661-4524B498E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3B16C8A-E414-74B5-90AE-7759C1719D08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46BD0B-E523-D7FE-62E8-0A58054D9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7E73FB-7F50-B470-67BD-A265D2A12A41}"/>
              </a:ext>
            </a:extLst>
          </p:cNvPr>
          <p:cNvSpPr txBox="1"/>
          <p:nvPr/>
        </p:nvSpPr>
        <p:spPr>
          <a:xfrm>
            <a:off x="228600" y="668867"/>
            <a:ext cx="767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4 </a:t>
            </a:r>
            <a:r>
              <a:rPr lang="en-IN" b="1" dirty="0">
                <a:highlight>
                  <a:srgbClr val="FFFF00"/>
                </a:highlight>
              </a:rPr>
              <a:t>: Highest and Lowest P/E Ratios  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39E08-ABFA-3504-E88F-C4DDA8B41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22865"/>
            <a:ext cx="10687467" cy="511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44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6E43-583B-AD92-86B8-83F1F697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3E8BA7B7-4096-2D33-DFD0-B8F8CB12A7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1AE8FD-1B7F-85F5-7D5C-846CE15D8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5761F05-CC2F-A466-CA0E-B8FDC71396DF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DD5101-87F2-1FFB-450F-E084FD684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ED240C0-1BE1-EFF8-E521-763A84646860}"/>
              </a:ext>
            </a:extLst>
          </p:cNvPr>
          <p:cNvSpPr txBox="1"/>
          <p:nvPr/>
        </p:nvSpPr>
        <p:spPr>
          <a:xfrm>
            <a:off x="135467" y="762000"/>
            <a:ext cx="654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5 </a:t>
            </a:r>
            <a:r>
              <a:rPr lang="en-IN" b="1" dirty="0">
                <a:highlight>
                  <a:srgbClr val="FFFF00"/>
                </a:highlight>
              </a:rPr>
              <a:t>: Stocks with Highest Market Cap   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822D36-B439-42F2-2E83-2FA8175FA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14266"/>
            <a:ext cx="10820400" cy="490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04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82FC-7099-ECD0-3D3F-B1603DD3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9B2FFB9F-07FD-A3CE-04CD-83A10FC31D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504CE2-2CCA-95CB-ABA6-543A3024D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824274E1-6E18-9CFD-5968-729F43695A55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A0B415-3929-F567-01E2-DB4094820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EB977C8-8E5C-CDD3-03E6-3CDBC45B4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03" y="1180531"/>
            <a:ext cx="10546994" cy="5042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49195-4D73-4502-A9CA-62B10FC5027A}"/>
              </a:ext>
            </a:extLst>
          </p:cNvPr>
          <p:cNvSpPr txBox="1"/>
          <p:nvPr/>
        </p:nvSpPr>
        <p:spPr>
          <a:xfrm>
            <a:off x="169333" y="626533"/>
            <a:ext cx="6316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6 </a:t>
            </a:r>
            <a:r>
              <a:rPr lang="en-IN" b="1" dirty="0">
                <a:highlight>
                  <a:srgbClr val="FFFF00"/>
                </a:highlight>
              </a:rPr>
              <a:t>: Stocks Near 52 Week High   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004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5B9A-7CEF-F5AE-714C-53A7A4F7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58D203C8-3982-E9D2-35DE-A331251AFC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69DDAC-CEEC-80DF-660F-25B0E9BDE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73034E01-3575-AA84-497B-F238314CB9BE}"/>
              </a:ext>
            </a:extLst>
          </p:cNvPr>
          <p:cNvSpPr txBox="1">
            <a:spLocks/>
          </p:cNvSpPr>
          <p:nvPr/>
        </p:nvSpPr>
        <p:spPr>
          <a:xfrm>
            <a:off x="228600" y="389095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 Query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5C3145-22B7-1C64-869B-924935816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BA97F28-0BAE-6DCB-6DCA-AE0F0BC7C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30" y="1424766"/>
            <a:ext cx="10379339" cy="47982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1C1674-94E4-4FEE-DE31-D36422177B8B}"/>
              </a:ext>
            </a:extLst>
          </p:cNvPr>
          <p:cNvSpPr txBox="1"/>
          <p:nvPr/>
        </p:nvSpPr>
        <p:spPr>
          <a:xfrm>
            <a:off x="228600" y="6350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7 </a:t>
            </a:r>
            <a:r>
              <a:rPr lang="en-IN" b="1" dirty="0">
                <a:highlight>
                  <a:srgbClr val="FFFF00"/>
                </a:highlight>
              </a:rPr>
              <a:t>: Stocks Near 52 Week Low   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532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8FA8-A0A3-EA00-D2C4-D980AA36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59FCF145-8FB0-3708-9E17-E90CC93D20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2099B3-0A52-45C1-4E61-8AA76DCCF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95708" y="302764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61A677C-FE8B-3D63-2FFA-6A01D1DD3570}"/>
              </a:ext>
            </a:extLst>
          </p:cNvPr>
          <p:cNvSpPr txBox="1">
            <a:spLocks/>
          </p:cNvSpPr>
          <p:nvPr/>
        </p:nvSpPr>
        <p:spPr>
          <a:xfrm>
            <a:off x="228600" y="199732"/>
            <a:ext cx="117348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Tableau dashboard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94ED4A-B9E4-4C35-B008-738A22076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2764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4C8A3AE-9F0D-C5EC-65E5-AE8226E71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36" y="1244600"/>
            <a:ext cx="10235363" cy="52974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090EA4-A79F-97B0-FA4C-F291A674315A}"/>
              </a:ext>
            </a:extLst>
          </p:cNvPr>
          <p:cNvSpPr txBox="1"/>
          <p:nvPr/>
        </p:nvSpPr>
        <p:spPr>
          <a:xfrm>
            <a:off x="228600" y="533596"/>
            <a:ext cx="862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/>
                </a:solidFill>
                <a:highlight>
                  <a:srgbClr val="FFFF00"/>
                </a:highlight>
              </a:rPr>
              <a:t>SQL Query 8 </a:t>
            </a:r>
            <a:r>
              <a:rPr lang="en-IN" b="1" dirty="0">
                <a:highlight>
                  <a:srgbClr val="FFFF00"/>
                </a:highlight>
              </a:rPr>
              <a:t>: Stocks with Strong Buy Signals and Stocks with Strong Selling Signals   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880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420122"/>
            <a:ext cx="11734800" cy="5262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162582D8-CCEB-219D-BFAC-7A9E58CBC231}"/>
              </a:ext>
            </a:extLst>
          </p:cNvPr>
          <p:cNvSpPr/>
          <p:nvPr/>
        </p:nvSpPr>
        <p:spPr>
          <a:xfrm>
            <a:off x="960582" y="1413164"/>
            <a:ext cx="4507345" cy="4211782"/>
          </a:xfrm>
          <a:prstGeom prst="flowChartConnec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8A7E61-AF06-FF6B-45AF-DB1BF5442CFC}"/>
              </a:ext>
            </a:extLst>
          </p:cNvPr>
          <p:cNvSpPr txBox="1"/>
          <p:nvPr/>
        </p:nvSpPr>
        <p:spPr>
          <a:xfrm>
            <a:off x="1731818" y="3226667"/>
            <a:ext cx="2964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+mj-lt"/>
              </a:rPr>
              <a:t>CHALLENGES</a:t>
            </a:r>
            <a:endParaRPr lang="en-IN" sz="32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18F4-A828-41FB-636B-BE37F96B945C}"/>
              </a:ext>
            </a:extLst>
          </p:cNvPr>
          <p:cNvSpPr txBox="1"/>
          <p:nvPr/>
        </p:nvSpPr>
        <p:spPr>
          <a:xfrm>
            <a:off x="6096000" y="2103282"/>
            <a:ext cx="53755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j-lt"/>
              </a:rPr>
              <a:t>Dealing with date column in excel.</a:t>
            </a:r>
          </a:p>
          <a:p>
            <a:endParaRPr lang="en-US" sz="24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+mj-lt"/>
              </a:rPr>
              <a:t>Understanding attributes of the data(domain knowledge).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DA19-0C6D-5C44-741A-FB7D7F5F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424E6EA5-1C9C-1919-A52E-7DA6E6B462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332FF6-6236-1C7C-9A10-72CB6D934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8C4BE53F-F57E-6597-D381-B6A377D7FA56}"/>
              </a:ext>
            </a:extLst>
          </p:cNvPr>
          <p:cNvSpPr txBox="1">
            <a:spLocks/>
          </p:cNvSpPr>
          <p:nvPr/>
        </p:nvSpPr>
        <p:spPr>
          <a:xfrm>
            <a:off x="228600" y="395836"/>
            <a:ext cx="11734800" cy="6370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Stock Market Analysis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ECBDC9-DEFA-8623-F544-A822F0970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047;p44">
            <a:extLst>
              <a:ext uri="{FF2B5EF4-FFF2-40B4-BE49-F238E27FC236}">
                <a16:creationId xmlns:a16="http://schemas.microsoft.com/office/drawing/2014/main" id="{40FF2F7B-3012-B8FD-4630-B421C7300B86}"/>
              </a:ext>
            </a:extLst>
          </p:cNvPr>
          <p:cNvSpPr txBox="1"/>
          <p:nvPr/>
        </p:nvSpPr>
        <p:spPr>
          <a:xfrm>
            <a:off x="4086225" y="732735"/>
            <a:ext cx="36207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Insights</a:t>
            </a:r>
            <a:endParaRPr sz="24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" name="Google Shape;1075;p44">
            <a:extLst>
              <a:ext uri="{FF2B5EF4-FFF2-40B4-BE49-F238E27FC236}">
                <a16:creationId xmlns:a16="http://schemas.microsoft.com/office/drawing/2014/main" id="{656488C7-3602-8D40-3828-9CEF79C41BB0}"/>
              </a:ext>
            </a:extLst>
          </p:cNvPr>
          <p:cNvCxnSpPr>
            <a:cxnSpLocks/>
          </p:cNvCxnSpPr>
          <p:nvPr/>
        </p:nvCxnSpPr>
        <p:spPr>
          <a:xfrm rot="5400000">
            <a:off x="3671923" y="412142"/>
            <a:ext cx="1387753" cy="284790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" name="Google Shape;1075;p44">
            <a:extLst>
              <a:ext uri="{FF2B5EF4-FFF2-40B4-BE49-F238E27FC236}">
                <a16:creationId xmlns:a16="http://schemas.microsoft.com/office/drawing/2014/main" id="{FC09330A-513B-77E5-B45D-D57A3E275D19}"/>
              </a:ext>
            </a:extLst>
          </p:cNvPr>
          <p:cNvCxnSpPr>
            <a:cxnSpLocks/>
            <a:endCxn id="34" idx="0"/>
          </p:cNvCxnSpPr>
          <p:nvPr/>
        </p:nvCxnSpPr>
        <p:spPr>
          <a:xfrm rot="10800000" flipV="1">
            <a:off x="1140644" y="1836091"/>
            <a:ext cx="2945587" cy="674399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" name="Google Shape;1078;p44">
            <a:extLst>
              <a:ext uri="{FF2B5EF4-FFF2-40B4-BE49-F238E27FC236}">
                <a16:creationId xmlns:a16="http://schemas.microsoft.com/office/drawing/2014/main" id="{531CBC9B-CF45-561D-87FF-613F56C75D19}"/>
              </a:ext>
            </a:extLst>
          </p:cNvPr>
          <p:cNvCxnSpPr>
            <a:cxnSpLocks/>
          </p:cNvCxnSpPr>
          <p:nvPr/>
        </p:nvCxnSpPr>
        <p:spPr>
          <a:xfrm>
            <a:off x="5608373" y="1847002"/>
            <a:ext cx="1546572" cy="663489"/>
          </a:xfrm>
          <a:prstGeom prst="bentConnector3">
            <a:avLst>
              <a:gd name="adj1" fmla="val 9998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" name="Google Shape;1076;p44">
            <a:extLst>
              <a:ext uri="{FF2B5EF4-FFF2-40B4-BE49-F238E27FC236}">
                <a16:creationId xmlns:a16="http://schemas.microsoft.com/office/drawing/2014/main" id="{5A6301B3-E582-A33D-0591-C42A9EC8C786}"/>
              </a:ext>
            </a:extLst>
          </p:cNvPr>
          <p:cNvCxnSpPr>
            <a:cxnSpLocks/>
          </p:cNvCxnSpPr>
          <p:nvPr/>
        </p:nvCxnSpPr>
        <p:spPr>
          <a:xfrm rot="5400000">
            <a:off x="4413250" y="1177099"/>
            <a:ext cx="1401816" cy="134664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" name="Google Shape;1078;p44">
            <a:extLst>
              <a:ext uri="{FF2B5EF4-FFF2-40B4-BE49-F238E27FC236}">
                <a16:creationId xmlns:a16="http://schemas.microsoft.com/office/drawing/2014/main" id="{1DF2F4B5-F164-C0FD-DAC9-742371BBC385}"/>
              </a:ext>
            </a:extLst>
          </p:cNvPr>
          <p:cNvCxnSpPr>
            <a:cxnSpLocks/>
          </p:cNvCxnSpPr>
          <p:nvPr/>
        </p:nvCxnSpPr>
        <p:spPr>
          <a:xfrm>
            <a:off x="6607480" y="1843389"/>
            <a:ext cx="1803478" cy="693878"/>
          </a:xfrm>
          <a:prstGeom prst="bentConnector3">
            <a:avLst>
              <a:gd name="adj1" fmla="val 10017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1078;p44">
            <a:extLst>
              <a:ext uri="{FF2B5EF4-FFF2-40B4-BE49-F238E27FC236}">
                <a16:creationId xmlns:a16="http://schemas.microsoft.com/office/drawing/2014/main" id="{04CBEE49-53B7-12E1-698C-709CDBE0C6DA}"/>
              </a:ext>
            </a:extLst>
          </p:cNvPr>
          <p:cNvCxnSpPr>
            <a:cxnSpLocks/>
          </p:cNvCxnSpPr>
          <p:nvPr/>
        </p:nvCxnSpPr>
        <p:spPr>
          <a:xfrm>
            <a:off x="6975836" y="1843389"/>
            <a:ext cx="3136096" cy="693878"/>
          </a:xfrm>
          <a:prstGeom prst="bentConnector3">
            <a:avLst>
              <a:gd name="adj1" fmla="val 1004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635;p29">
            <a:extLst>
              <a:ext uri="{FF2B5EF4-FFF2-40B4-BE49-F238E27FC236}">
                <a16:creationId xmlns:a16="http://schemas.microsoft.com/office/drawing/2014/main" id="{470805A5-EF17-D660-029E-569FC327C494}"/>
              </a:ext>
            </a:extLst>
          </p:cNvPr>
          <p:cNvSpPr txBox="1"/>
          <p:nvPr/>
        </p:nvSpPr>
        <p:spPr>
          <a:xfrm>
            <a:off x="890222" y="2510491"/>
            <a:ext cx="500841" cy="50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Google Shape;635;p29">
            <a:extLst>
              <a:ext uri="{FF2B5EF4-FFF2-40B4-BE49-F238E27FC236}">
                <a16:creationId xmlns:a16="http://schemas.microsoft.com/office/drawing/2014/main" id="{D5976041-3F4A-5340-86BD-4D901F83E107}"/>
              </a:ext>
            </a:extLst>
          </p:cNvPr>
          <p:cNvSpPr txBox="1"/>
          <p:nvPr/>
        </p:nvSpPr>
        <p:spPr>
          <a:xfrm>
            <a:off x="2691424" y="2537267"/>
            <a:ext cx="500841" cy="47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Google Shape;635;p29">
            <a:extLst>
              <a:ext uri="{FF2B5EF4-FFF2-40B4-BE49-F238E27FC236}">
                <a16:creationId xmlns:a16="http://schemas.microsoft.com/office/drawing/2014/main" id="{D4BA1D55-BD71-C90C-F3E4-3064BF0C2787}"/>
              </a:ext>
            </a:extLst>
          </p:cNvPr>
          <p:cNvSpPr txBox="1"/>
          <p:nvPr/>
        </p:nvSpPr>
        <p:spPr>
          <a:xfrm>
            <a:off x="4190412" y="2537267"/>
            <a:ext cx="500841" cy="47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2B68EC-27FB-3D87-E718-F98B9FA0B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87482" y="1229235"/>
            <a:ext cx="0" cy="1308032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oogle Shape;635;p29">
            <a:extLst>
              <a:ext uri="{FF2B5EF4-FFF2-40B4-BE49-F238E27FC236}">
                <a16:creationId xmlns:a16="http://schemas.microsoft.com/office/drawing/2014/main" id="{4F1D4244-B840-9386-2C01-CA16CE96D548}"/>
              </a:ext>
            </a:extLst>
          </p:cNvPr>
          <p:cNvSpPr txBox="1"/>
          <p:nvPr/>
        </p:nvSpPr>
        <p:spPr>
          <a:xfrm>
            <a:off x="5537063" y="2558626"/>
            <a:ext cx="500841" cy="47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Google Shape;635;p29">
            <a:extLst>
              <a:ext uri="{FF2B5EF4-FFF2-40B4-BE49-F238E27FC236}">
                <a16:creationId xmlns:a16="http://schemas.microsoft.com/office/drawing/2014/main" id="{05774807-7B8B-C56F-218D-2AB8C171FA55}"/>
              </a:ext>
            </a:extLst>
          </p:cNvPr>
          <p:cNvSpPr txBox="1"/>
          <p:nvPr/>
        </p:nvSpPr>
        <p:spPr>
          <a:xfrm>
            <a:off x="6905660" y="2510491"/>
            <a:ext cx="500841" cy="47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" name="Google Shape;635;p29">
            <a:extLst>
              <a:ext uri="{FF2B5EF4-FFF2-40B4-BE49-F238E27FC236}">
                <a16:creationId xmlns:a16="http://schemas.microsoft.com/office/drawing/2014/main" id="{FC1A286E-F64D-62A5-238C-467178192882}"/>
              </a:ext>
            </a:extLst>
          </p:cNvPr>
          <p:cNvSpPr txBox="1"/>
          <p:nvPr/>
        </p:nvSpPr>
        <p:spPr>
          <a:xfrm>
            <a:off x="8208297" y="2523879"/>
            <a:ext cx="500841" cy="47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" name="Google Shape;635;p29">
            <a:extLst>
              <a:ext uri="{FF2B5EF4-FFF2-40B4-BE49-F238E27FC236}">
                <a16:creationId xmlns:a16="http://schemas.microsoft.com/office/drawing/2014/main" id="{A51494B8-1A34-9CEA-05BF-3E493C2E7B0D}"/>
              </a:ext>
            </a:extLst>
          </p:cNvPr>
          <p:cNvSpPr txBox="1"/>
          <p:nvPr/>
        </p:nvSpPr>
        <p:spPr>
          <a:xfrm>
            <a:off x="9861511" y="2491350"/>
            <a:ext cx="500841" cy="47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" b="1" dirty="0">
                <a:solidFill>
                  <a:srgbClr val="00B0F0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sz="1800" b="1" dirty="0">
              <a:solidFill>
                <a:srgbClr val="00B0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1" name="Google Shape;1071;p44">
            <a:extLst>
              <a:ext uri="{FF2B5EF4-FFF2-40B4-BE49-F238E27FC236}">
                <a16:creationId xmlns:a16="http://schemas.microsoft.com/office/drawing/2014/main" id="{BAC8D4D7-01CB-4376-9C5D-B0E1F024CD5A}"/>
              </a:ext>
            </a:extLst>
          </p:cNvPr>
          <p:cNvCxnSpPr>
            <a:cxnSpLocks/>
          </p:cNvCxnSpPr>
          <p:nvPr/>
        </p:nvCxnSpPr>
        <p:spPr>
          <a:xfrm>
            <a:off x="1140642" y="2967868"/>
            <a:ext cx="6506" cy="4178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2" name="Google Shape;1071;p44">
            <a:extLst>
              <a:ext uri="{FF2B5EF4-FFF2-40B4-BE49-F238E27FC236}">
                <a16:creationId xmlns:a16="http://schemas.microsoft.com/office/drawing/2014/main" id="{595F818C-E718-3715-ADCD-56529399147A}"/>
              </a:ext>
            </a:extLst>
          </p:cNvPr>
          <p:cNvCxnSpPr>
            <a:cxnSpLocks/>
          </p:cNvCxnSpPr>
          <p:nvPr/>
        </p:nvCxnSpPr>
        <p:spPr>
          <a:xfrm>
            <a:off x="2943063" y="2967868"/>
            <a:ext cx="6506" cy="1830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3" name="Google Shape;1071;p44">
            <a:extLst>
              <a:ext uri="{FF2B5EF4-FFF2-40B4-BE49-F238E27FC236}">
                <a16:creationId xmlns:a16="http://schemas.microsoft.com/office/drawing/2014/main" id="{C97F28E2-3A3A-6DA2-0F63-4E9D660BFAC9}"/>
              </a:ext>
            </a:extLst>
          </p:cNvPr>
          <p:cNvCxnSpPr>
            <a:cxnSpLocks/>
          </p:cNvCxnSpPr>
          <p:nvPr/>
        </p:nvCxnSpPr>
        <p:spPr>
          <a:xfrm>
            <a:off x="4448614" y="2967868"/>
            <a:ext cx="605" cy="4611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1071;p44">
            <a:extLst>
              <a:ext uri="{FF2B5EF4-FFF2-40B4-BE49-F238E27FC236}">
                <a16:creationId xmlns:a16="http://schemas.microsoft.com/office/drawing/2014/main" id="{4D171E88-3A0E-C8A7-2BB0-80EFDC351AB8}"/>
              </a:ext>
            </a:extLst>
          </p:cNvPr>
          <p:cNvCxnSpPr>
            <a:cxnSpLocks/>
          </p:cNvCxnSpPr>
          <p:nvPr/>
        </p:nvCxnSpPr>
        <p:spPr>
          <a:xfrm flipH="1">
            <a:off x="5787482" y="2901457"/>
            <a:ext cx="1215" cy="18487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5" name="Google Shape;1071;p44">
            <a:extLst>
              <a:ext uri="{FF2B5EF4-FFF2-40B4-BE49-F238E27FC236}">
                <a16:creationId xmlns:a16="http://schemas.microsoft.com/office/drawing/2014/main" id="{04669849-F47F-4AB4-88E2-59FE5B402DAF}"/>
              </a:ext>
            </a:extLst>
          </p:cNvPr>
          <p:cNvCxnSpPr>
            <a:cxnSpLocks/>
          </p:cNvCxnSpPr>
          <p:nvPr/>
        </p:nvCxnSpPr>
        <p:spPr>
          <a:xfrm>
            <a:off x="7156164" y="2929871"/>
            <a:ext cx="6506" cy="4178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6" name="Google Shape;1071;p44">
            <a:extLst>
              <a:ext uri="{FF2B5EF4-FFF2-40B4-BE49-F238E27FC236}">
                <a16:creationId xmlns:a16="http://schemas.microsoft.com/office/drawing/2014/main" id="{0F4C7743-1446-68E7-E038-F9BC7DF1EDAF}"/>
              </a:ext>
            </a:extLst>
          </p:cNvPr>
          <p:cNvCxnSpPr>
            <a:cxnSpLocks/>
          </p:cNvCxnSpPr>
          <p:nvPr/>
        </p:nvCxnSpPr>
        <p:spPr>
          <a:xfrm>
            <a:off x="8458717" y="2937299"/>
            <a:ext cx="0" cy="17289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7" name="Google Shape;1071;p44">
            <a:extLst>
              <a:ext uri="{FF2B5EF4-FFF2-40B4-BE49-F238E27FC236}">
                <a16:creationId xmlns:a16="http://schemas.microsoft.com/office/drawing/2014/main" id="{F776D1FA-B9B2-64B3-F45A-C73D6145BB81}"/>
              </a:ext>
            </a:extLst>
          </p:cNvPr>
          <p:cNvCxnSpPr>
            <a:cxnSpLocks/>
          </p:cNvCxnSpPr>
          <p:nvPr/>
        </p:nvCxnSpPr>
        <p:spPr>
          <a:xfrm>
            <a:off x="10107545" y="2891743"/>
            <a:ext cx="6506" cy="4178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38C268E-AC26-F30B-7AAF-ECFA58A22FEF}"/>
              </a:ext>
            </a:extLst>
          </p:cNvPr>
          <p:cNvSpPr txBox="1"/>
          <p:nvPr/>
        </p:nvSpPr>
        <p:spPr>
          <a:xfrm>
            <a:off x="228600" y="3657600"/>
            <a:ext cx="21334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400" b="1" i="0" dirty="0">
                <a:effectLst/>
                <a:latin typeface="+mj-lt"/>
              </a:rPr>
              <a:t> Market Popularity and Liquidity.</a:t>
            </a:r>
            <a:endParaRPr lang="en-IN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+mj-lt"/>
              </a:rPr>
              <a:t>Volatility and Price Movements.</a:t>
            </a:r>
            <a:endParaRPr lang="en-IN" sz="1400" b="1" i="0" dirty="0">
              <a:effectLst/>
              <a:latin typeface="+mj-lt"/>
            </a:endParaRPr>
          </a:p>
          <a:p>
            <a:endParaRPr lang="en-IN" sz="1400" dirty="0"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F5CBDF-2B70-EAF2-B07E-6492B1A028C7}"/>
              </a:ext>
            </a:extLst>
          </p:cNvPr>
          <p:cNvSpPr txBox="1"/>
          <p:nvPr/>
        </p:nvSpPr>
        <p:spPr>
          <a:xfrm>
            <a:off x="3461681" y="3685790"/>
            <a:ext cx="2100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400" b="1" i="0" dirty="0">
                <a:effectLst/>
                <a:latin typeface="+mj-lt"/>
              </a:rPr>
              <a:t>Dividend History.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i="0" dirty="0">
                <a:effectLst/>
                <a:latin typeface="+mj-lt"/>
              </a:rPr>
              <a:t>Company Performance.</a:t>
            </a:r>
          </a:p>
          <a:p>
            <a:pPr marL="342900" indent="-342900">
              <a:buFont typeface="+mj-lt"/>
              <a:buAutoNum type="arabicPeriod"/>
            </a:pPr>
            <a:endParaRPr lang="en-IN" sz="1400" i="0" dirty="0">
              <a:effectLst/>
              <a:latin typeface="+mj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31B703-E73A-1304-5556-A21036D8B057}"/>
              </a:ext>
            </a:extLst>
          </p:cNvPr>
          <p:cNvSpPr txBox="1"/>
          <p:nvPr/>
        </p:nvSpPr>
        <p:spPr>
          <a:xfrm>
            <a:off x="2099845" y="5123709"/>
            <a:ext cx="19863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400" b="1" i="0" dirty="0">
                <a:effectLst/>
                <a:latin typeface="+mj-lt"/>
              </a:rPr>
              <a:t>Diversification.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i="0" dirty="0">
                <a:effectLst/>
                <a:latin typeface="+mj-lt"/>
              </a:rPr>
              <a:t>Risk and     Returns.</a:t>
            </a:r>
          </a:p>
          <a:p>
            <a:pPr marL="342900" indent="-342900">
              <a:buFont typeface="+mj-lt"/>
              <a:buAutoNum type="arabicPeriod"/>
            </a:pPr>
            <a:endParaRPr lang="en-IN" sz="1400" i="0" dirty="0">
              <a:effectLst/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DADDEB-C621-175A-89C3-019FEB7222F9}"/>
              </a:ext>
            </a:extLst>
          </p:cNvPr>
          <p:cNvSpPr txBox="1"/>
          <p:nvPr/>
        </p:nvSpPr>
        <p:spPr>
          <a:xfrm>
            <a:off x="4600280" y="5105512"/>
            <a:ext cx="2354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400" b="1" i="0" dirty="0">
                <a:effectLst/>
                <a:latin typeface="+mj-lt"/>
              </a:rPr>
              <a:t>Investor Sentiment.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i="0" dirty="0">
                <a:effectLst/>
                <a:latin typeface="+mj-lt"/>
              </a:rPr>
              <a:t>Earnings Stability</a:t>
            </a:r>
            <a:r>
              <a:rPr lang="en-IN" sz="1400" i="0" dirty="0">
                <a:effectLst/>
                <a:latin typeface="+mj-lt"/>
              </a:rPr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AC1171-7F90-635D-419B-160D94BEB888}"/>
              </a:ext>
            </a:extLst>
          </p:cNvPr>
          <p:cNvSpPr txBox="1"/>
          <p:nvPr/>
        </p:nvSpPr>
        <p:spPr>
          <a:xfrm>
            <a:off x="6340985" y="3646151"/>
            <a:ext cx="21009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400" b="1" dirty="0">
                <a:latin typeface="+mj-lt"/>
              </a:rPr>
              <a:t>Amazon’s Dominance.</a:t>
            </a:r>
          </a:p>
          <a:p>
            <a:pPr marL="342900" indent="-342900">
              <a:buAutoNum type="arabicPeriod"/>
            </a:pPr>
            <a:r>
              <a:rPr lang="en-IN" sz="1400" b="1" dirty="0">
                <a:latin typeface="+mj-lt"/>
              </a:rPr>
              <a:t>Google’s Relative Position..</a:t>
            </a:r>
            <a:endParaRPr lang="en-IN" sz="1400" b="1" i="0" dirty="0">
              <a:effectLst/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i="0" dirty="0">
              <a:effectLst/>
              <a:latin typeface="+mj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404143-A617-7DD2-A0DD-766C617954E4}"/>
              </a:ext>
            </a:extLst>
          </p:cNvPr>
          <p:cNvSpPr txBox="1"/>
          <p:nvPr/>
        </p:nvSpPr>
        <p:spPr>
          <a:xfrm>
            <a:off x="7840461" y="5038868"/>
            <a:ext cx="17373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+mj-lt"/>
              </a:rPr>
              <a:t>Potential for Opportunities.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i="0" dirty="0">
                <a:effectLst/>
                <a:latin typeface="+mj-lt"/>
              </a:rPr>
              <a:t>Sector-wide Trends.</a:t>
            </a:r>
          </a:p>
          <a:p>
            <a:endParaRPr lang="en-IN" sz="1400" i="0" dirty="0">
              <a:effectLst/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325D1E-A77F-1002-7A2C-9669A4F140E7}"/>
              </a:ext>
            </a:extLst>
          </p:cNvPr>
          <p:cNvSpPr txBox="1"/>
          <p:nvPr/>
        </p:nvSpPr>
        <p:spPr>
          <a:xfrm>
            <a:off x="8963761" y="3700875"/>
            <a:ext cx="2287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400" b="1" i="0" dirty="0">
                <a:effectLst/>
                <a:latin typeface="+mj-lt"/>
              </a:rPr>
              <a:t>Emphasis on Bullish Bias.</a:t>
            </a:r>
          </a:p>
          <a:p>
            <a:pPr marL="342900" indent="-342900">
              <a:buAutoNum type="arabicPeriod"/>
            </a:pPr>
            <a:r>
              <a:rPr lang="en-IN" sz="1400" b="1" i="0" dirty="0">
                <a:effectLst/>
                <a:latin typeface="+mj-lt"/>
              </a:rPr>
              <a:t> Frequent Buy Signals.</a:t>
            </a:r>
          </a:p>
        </p:txBody>
      </p:sp>
    </p:spTree>
    <p:extLst>
      <p:ext uri="{BB962C8B-B14F-4D97-AF65-F5344CB8AC3E}">
        <p14:creationId xmlns:p14="http://schemas.microsoft.com/office/powerpoint/2010/main" val="3954511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16c05727-aa75-4e4a-9b5f-8a80a1165891"/>
    <ds:schemaRef ds:uri="http://purl.org/dc/dcmitype/"/>
    <ds:schemaRef ds:uri="http://purl.org/dc/elements/1.1/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1073</Words>
  <Application>Microsoft Office PowerPoint</Application>
  <PresentationFormat>Widescreen</PresentationFormat>
  <Paragraphs>223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Calibri-Bold</vt:lpstr>
      <vt:lpstr>Century Gothic</vt:lpstr>
      <vt:lpstr>DM Sans</vt:lpstr>
      <vt:lpstr>Segoe UI Light</vt:lpstr>
      <vt:lpstr>Söhne</vt:lpstr>
      <vt:lpstr>Wingdings</vt:lpstr>
      <vt:lpstr>Office Theme</vt:lpstr>
      <vt:lpstr>Stock Market Analysis Group 5 : Presentation</vt:lpstr>
      <vt:lpstr>Project analysis slide 2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4</vt:lpstr>
      <vt:lpstr>Project analysis slide 5</vt:lpstr>
      <vt:lpstr>Project analysis slide 5</vt:lpstr>
      <vt:lpstr>Project analysis slide 5</vt:lpstr>
      <vt:lpstr>Project analysis slide 6</vt:lpstr>
      <vt:lpstr>Project analysis slide 6</vt:lpstr>
      <vt:lpstr>Project analysis slide 7</vt:lpstr>
      <vt:lpstr>Project analysis slide 7</vt:lpstr>
      <vt:lpstr>Project analysis slide 8</vt:lpstr>
      <vt:lpstr>Project analysis slide 8</vt:lpstr>
      <vt:lpstr>Project analysis slide 8</vt:lpstr>
      <vt:lpstr>Project analysis slide 8</vt:lpstr>
      <vt:lpstr>Project analysis slide 8</vt:lpstr>
      <vt:lpstr>Project analysis slide 8</vt:lpstr>
      <vt:lpstr>Project analysis slide 8</vt:lpstr>
      <vt:lpstr>Project analysis slide 8</vt:lpstr>
      <vt:lpstr>Project analysis slide 8</vt:lpstr>
      <vt:lpstr>Project analysis slide 10</vt:lpstr>
      <vt:lpstr>Project analysis slide 5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Performance Analysis</dc:title>
  <dc:creator>Satya Raj Madathala</dc:creator>
  <cp:lastModifiedBy>Kiran Mane</cp:lastModifiedBy>
  <cp:revision>39</cp:revision>
  <dcterms:created xsi:type="dcterms:W3CDTF">2024-01-21T08:11:15Z</dcterms:created>
  <dcterms:modified xsi:type="dcterms:W3CDTF">2025-03-27T08:31:16Z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